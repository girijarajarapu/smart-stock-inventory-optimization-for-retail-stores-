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ln/>
        </p:spPr>
      </p:sp>
      <p:sp>
        <p:nvSpPr>
          <p:cNvPr id="3" name="Shape 1"/>
          <p:cNvSpPr/>
          <p:nvPr/>
        </p:nvSpPr>
        <p:spPr>
          <a:xfrm>
            <a:off x="0" y="0"/>
            <a:ext cx="9144000" cy="137160"/>
          </a:xfrm>
          <a:prstGeom prst="rect">
            <a:avLst/>
          </a:prstGeom>
          <a:solidFill>
            <a:srgbClr val="374151"/>
          </a:solidFill>
          <a:ln/>
        </p:spPr>
      </p:sp>
      <p:sp>
        <p:nvSpPr>
          <p:cNvPr id="4" name="Text 2"/>
          <p:cNvSpPr/>
          <p:nvPr/>
        </p:nvSpPr>
        <p:spPr>
          <a:xfrm>
            <a:off x="914400" y="1371600"/>
            <a:ext cx="7315200" cy="1645920"/>
          </a:xfrm>
          <a:prstGeom prst="rect">
            <a:avLst/>
          </a:prstGeom>
          <a:noFill/>
          <a:ln/>
        </p:spPr>
        <p:txBody>
          <a:bodyPr wrap="square" rtlCol="0" anchor="ctr"/>
          <a:lstStyle/>
          <a:p>
            <a:pPr algn="ctr" indent="0" marL="0">
              <a:buNone/>
            </a:pPr>
            <a:r>
              <a:rPr lang="en-US" sz="4200" b="1" dirty="0">
                <a:solidFill>
                  <a:srgbClr val="374151"/>
                </a:solidFill>
              </a:rPr>
              <a:t>Smart Stock Inventory Optimization</a:t>
            </a:r>
            <a:endParaRPr lang="en-US" sz="4200" dirty="0"/>
          </a:p>
        </p:txBody>
      </p:sp>
      <p:sp>
        <p:nvSpPr>
          <p:cNvPr id="5" name="Text 3"/>
          <p:cNvSpPr/>
          <p:nvPr/>
        </p:nvSpPr>
        <p:spPr>
          <a:xfrm>
            <a:off x="914400" y="2743200"/>
            <a:ext cx="7315200" cy="914400"/>
          </a:xfrm>
          <a:prstGeom prst="rect">
            <a:avLst/>
          </a:prstGeom>
          <a:noFill/>
          <a:ln/>
        </p:spPr>
        <p:txBody>
          <a:bodyPr wrap="square" rtlCol="0" anchor="ctr"/>
          <a:lstStyle/>
          <a:p>
            <a:pPr algn="ctr" indent="0" marL="0">
              <a:buNone/>
            </a:pPr>
            <a:r>
              <a:rPr lang="en-US" sz="2000" i="1" dirty="0">
                <a:solidFill>
                  <a:srgbClr val="4B5563"/>
                </a:solidFill>
              </a:rPr>
              <a:t>Developed Using Python Programming - A fresh approach to efficient retail management.</a:t>
            </a:r>
            <a:endParaRPr lang="en-US" sz="2000" dirty="0"/>
          </a:p>
        </p:txBody>
      </p:sp>
      <p:sp>
        <p:nvSpPr>
          <p:cNvPr id="6" name="Shape 4"/>
          <p:cNvSpPr/>
          <p:nvPr/>
        </p:nvSpPr>
        <p:spPr>
          <a:xfrm>
            <a:off x="3200400" y="3657600"/>
            <a:ext cx="2743200" cy="73152"/>
          </a:xfrm>
          <a:prstGeom prst="rect">
            <a:avLst/>
          </a:prstGeom>
          <a:solidFill>
            <a:srgbClr val="6B7280"/>
          </a:solidFill>
          <a:ln/>
        </p:spPr>
      </p:sp>
      <p:sp>
        <p:nvSpPr>
          <p:cNvPr id="7" name="Shape 5"/>
          <p:cNvSpPr/>
          <p:nvPr/>
        </p:nvSpPr>
        <p:spPr>
          <a:xfrm>
            <a:off x="0" y="5029200"/>
            <a:ext cx="9144000" cy="137160"/>
          </a:xfrm>
          <a:prstGeom prst="rect">
            <a:avLst/>
          </a:prstGeom>
          <a:solidFill>
            <a:srgbClr val="374151"/>
          </a:solidFill>
          <a:ln/>
        </p:spPr>
      </p:sp>
      <p:pic>
        <p:nvPicPr>
          <p:cNvPr id="8" name="Image 0" descr="/workspace/src/asssets/watermark.png">    </p:cNvPr>
          <p:cNvPicPr>
            <a:picLocks noChangeAspect="1"/>
          </p:cNvPicPr>
          <p:nvPr/>
        </p:nvPicPr>
        <p:blipFill>
          <a:blip r:embed="rId1"/>
          <a:srcRect l="0" r="0" t="0" b="0"/>
          <a:stretch/>
        </p:blipFill>
        <p:spPr>
          <a:xfrm>
            <a:off x="7589520" y="274320"/>
            <a:ext cx="1097280" cy="1097280"/>
          </a:xfrm>
          <a:prstGeom prst="rect">
            <a:avLst/>
          </a:prstGeom>
        </p:spPr>
      </p:pic>
      <p:sp>
        <p:nvSpPr>
          <p:cNvPr id="9" name="Shape 6"/>
          <p:cNvSpPr/>
          <p:nvPr/>
        </p:nvSpPr>
        <p:spPr>
          <a:xfrm>
            <a:off x="0" y="0"/>
            <a:ext cx="457200" cy="457200"/>
          </a:xfrm>
          <a:prstGeom prst="rect">
            <a:avLst/>
          </a:prstGeom>
          <a:solidFill>
            <a:srgbClr val="6B7280"/>
          </a:solidFill>
          <a:ln/>
        </p:spPr>
      </p:sp>
      <p:sp>
        <p:nvSpPr>
          <p:cNvPr id="10" name="Shape 7"/>
          <p:cNvSpPr/>
          <p:nvPr/>
        </p:nvSpPr>
        <p:spPr>
          <a:xfrm>
            <a:off x="8686800" y="4709160"/>
            <a:ext cx="457200" cy="457200"/>
          </a:xfrm>
          <a:prstGeom prst="rect">
            <a:avLst/>
          </a:prstGeom>
          <a:solidFill>
            <a:srgbClr val="6B7280"/>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6B7280"/>
          </a:solidFill>
          <a:ln/>
        </p:spPr>
      </p:sp>
      <p:sp>
        <p:nvSpPr>
          <p:cNvPr id="3" name="Text 1"/>
          <p:cNvSpPr/>
          <p:nvPr/>
        </p:nvSpPr>
        <p:spPr>
          <a:xfrm>
            <a:off x="914400" y="457200"/>
            <a:ext cx="7315200" cy="914400"/>
          </a:xfrm>
          <a:prstGeom prst="rect">
            <a:avLst/>
          </a:prstGeom>
          <a:noFill/>
          <a:ln/>
        </p:spPr>
        <p:txBody>
          <a:bodyPr wrap="square" rtlCol="0" anchor="ctr"/>
          <a:lstStyle/>
          <a:p>
            <a:pPr algn="l" indent="0" marL="0">
              <a:buNone/>
            </a:pPr>
            <a:r>
              <a:rPr lang="en-US" sz="2600" b="1" dirty="0">
                <a:solidFill>
                  <a:srgbClr val="374151"/>
                </a:solidFill>
              </a:rPr>
              <a:t>Understanding Inventory Challenges</a:t>
            </a:r>
            <a:endParaRPr lang="en-US" sz="2600" dirty="0"/>
          </a:p>
        </p:txBody>
      </p:sp>
      <p:sp>
        <p:nvSpPr>
          <p:cNvPr id="4" name="Shape 2"/>
          <p:cNvSpPr/>
          <p:nvPr/>
        </p:nvSpPr>
        <p:spPr>
          <a:xfrm>
            <a:off x="914400" y="1371600"/>
            <a:ext cx="1828800" cy="27432"/>
          </a:xfrm>
          <a:prstGeom prst="rect">
            <a:avLst/>
          </a:prstGeom>
          <a:solidFill>
            <a:srgbClr val="4B5563"/>
          </a:solidFill>
          <a:ln/>
        </p:spPr>
      </p:sp>
      <p:sp>
        <p:nvSpPr>
          <p:cNvPr id="5" name="Text 3"/>
          <p:cNvSpPr/>
          <p:nvPr/>
        </p:nvSpPr>
        <p:spPr>
          <a:xfrm>
            <a:off x="914400" y="2011680"/>
            <a:ext cx="7315200" cy="4389120"/>
          </a:xfrm>
          <a:prstGeom prst="rect">
            <a:avLst/>
          </a:prstGeom>
          <a:noFill/>
          <a:ln/>
        </p:spPr>
        <p:txBody>
          <a:bodyPr wrap="square" rtlCol="0" anchor="t"/>
          <a:lstStyle/>
          <a:p>
            <a:pPr algn="l" indent="0" marL="0">
              <a:lnSpc>
                <a:spcPts val="2400"/>
              </a:lnSpc>
              <a:buNone/>
            </a:pPr>
            <a:r>
              <a:rPr lang="en-US" sz="1800" dirty="0">
                <a:solidFill>
                  <a:srgbClr val="111827"/>
                </a:solidFill>
              </a:rPr>
              <a:t>Retail stores are crucial for customer satisfaction and profitability. Maintaining correct stock levels helps prevent issues: Overstock leads to waste and financial losses, while out-of-stock scenarios cause customer dissatisfaction. This project leverages Python programming to create an efficient system for tracking and managing stock levels, ensuring the right products are available at the right time.</a:t>
            </a:r>
            <a:endParaRPr lang="en-US" sz="1800" dirty="0"/>
          </a:p>
        </p:txBody>
      </p:sp>
      <p:sp>
        <p:nvSpPr>
          <p:cNvPr id="6" name="Shape 4"/>
          <p:cNvSpPr/>
          <p:nvPr/>
        </p:nvSpPr>
        <p:spPr>
          <a:xfrm>
            <a:off x="0" y="6812280"/>
            <a:ext cx="9144000" cy="45720"/>
          </a:xfrm>
          <a:prstGeom prst="rect">
            <a:avLst/>
          </a:prstGeom>
          <a:solidFill>
            <a:srgbClr val="374151"/>
          </a:solidFill>
          <a:ln/>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solidFill>
            <a:srgbClr val="F9FAFB"/>
          </a:solidFill>
          <a:ln/>
        </p:spPr>
      </p:sp>
      <p:sp>
        <p:nvSpPr>
          <p:cNvPr id="3" name="Shape 1"/>
          <p:cNvSpPr/>
          <p:nvPr/>
        </p:nvSpPr>
        <p:spPr>
          <a:xfrm>
            <a:off x="0" y="0"/>
            <a:ext cx="9144000" cy="91440"/>
          </a:xfrm>
          <a:prstGeom prst="rect">
            <a:avLst/>
          </a:prstGeom>
          <a:solidFill>
            <a:srgbClr val="374151"/>
          </a:solidFill>
          <a:ln/>
        </p:spPr>
      </p:sp>
      <p:sp>
        <p:nvSpPr>
          <p:cNvPr id="4" name="Shape 2"/>
          <p:cNvSpPr/>
          <p:nvPr/>
        </p:nvSpPr>
        <p:spPr>
          <a:xfrm>
            <a:off x="457200" y="1463040"/>
            <a:ext cx="8229600" cy="2194560"/>
          </a:xfrm>
          <a:prstGeom prst="rect">
            <a:avLst/>
          </a:prstGeom>
          <a:solidFill>
            <a:srgbClr val="E5E7EB"/>
          </a:solidFill>
          <a:ln/>
        </p:spPr>
      </p:sp>
      <p:sp>
        <p:nvSpPr>
          <p:cNvPr id="5" name="Text 3"/>
          <p:cNvSpPr/>
          <p:nvPr/>
        </p:nvSpPr>
        <p:spPr>
          <a:xfrm>
            <a:off x="914400" y="1645920"/>
            <a:ext cx="7315200" cy="1645920"/>
          </a:xfrm>
          <a:prstGeom prst="rect">
            <a:avLst/>
          </a:prstGeom>
          <a:noFill/>
          <a:ln/>
        </p:spPr>
        <p:txBody>
          <a:bodyPr wrap="square" rtlCol="0" anchor="ctr"/>
          <a:lstStyle/>
          <a:p>
            <a:pPr algn="ctr" indent="0" marL="0">
              <a:buNone/>
            </a:pPr>
            <a:r>
              <a:rPr lang="en-US" sz="3400" b="1" dirty="0">
                <a:solidFill>
                  <a:srgbClr val="374151"/>
                </a:solidFill>
              </a:rPr>
              <a:t>Introducing Key Objectives</a:t>
            </a:r>
            <a:endParaRPr lang="en-US" sz="3400" dirty="0"/>
          </a:p>
        </p:txBody>
      </p:sp>
      <p:sp>
        <p:nvSpPr>
          <p:cNvPr id="6" name="Text 4"/>
          <p:cNvSpPr/>
          <p:nvPr/>
        </p:nvSpPr>
        <p:spPr>
          <a:xfrm>
            <a:off x="1371600" y="4114800"/>
            <a:ext cx="6400800" cy="1371600"/>
          </a:xfrm>
          <a:prstGeom prst="rect">
            <a:avLst/>
          </a:prstGeom>
          <a:noFill/>
          <a:ln/>
        </p:spPr>
        <p:txBody>
          <a:bodyPr wrap="square" rtlCol="0" anchor="ctr"/>
          <a:lstStyle/>
          <a:p>
            <a:pPr algn="ctr" indent="0" marL="0">
              <a:lnSpc>
                <a:spcPts val="2000"/>
              </a:lnSpc>
              <a:buNone/>
            </a:pPr>
            <a:r>
              <a:rPr lang="en-US" sz="1600" i="1" dirty="0">
                <a:solidFill>
                  <a:srgbClr val="4B5563"/>
                </a:solidFill>
              </a:rPr>
              <a:t>Let's explore the objectives of our project that set the foundation for effective inventory management.</a:t>
            </a:r>
            <a:endParaRPr lang="en-US" sz="1600" dirty="0"/>
          </a:p>
        </p:txBody>
      </p:sp>
      <p:sp>
        <p:nvSpPr>
          <p:cNvPr id="7" name="Shape 5"/>
          <p:cNvSpPr/>
          <p:nvPr/>
        </p:nvSpPr>
        <p:spPr>
          <a:xfrm>
            <a:off x="0" y="6766560"/>
            <a:ext cx="9144000" cy="91440"/>
          </a:xfrm>
          <a:prstGeom prst="rect">
            <a:avLst/>
          </a:prstGeom>
          <a:solidFill>
            <a:srgbClr val="374151"/>
          </a:solidFill>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374151"/>
          </a:solidFill>
          <a:ln/>
        </p:spPr>
      </p:sp>
      <p:sp>
        <p:nvSpPr>
          <p:cNvPr id="3" name="Text 1"/>
          <p:cNvSpPr/>
          <p:nvPr/>
        </p:nvSpPr>
        <p:spPr>
          <a:xfrm>
            <a:off x="914400" y="457200"/>
            <a:ext cx="7315200" cy="914400"/>
          </a:xfrm>
          <a:prstGeom prst="rect">
            <a:avLst/>
          </a:prstGeom>
          <a:noFill/>
          <a:ln/>
        </p:spPr>
        <p:txBody>
          <a:bodyPr wrap="square" rtlCol="0" anchor="ctr"/>
          <a:lstStyle/>
          <a:p>
            <a:pPr algn="l" indent="0" marL="0">
              <a:buNone/>
            </a:pPr>
            <a:r>
              <a:rPr lang="en-US" sz="2400" b="1" dirty="0">
                <a:solidFill>
                  <a:srgbClr val="374151"/>
                </a:solidFill>
              </a:rPr>
              <a:t>Core Technologies in Use</a:t>
            </a:r>
            <a:endParaRPr lang="en-US" sz="2400" dirty="0"/>
          </a:p>
        </p:txBody>
      </p:sp>
      <p:sp>
        <p:nvSpPr>
          <p:cNvPr id="4" name="Shape 2"/>
          <p:cNvSpPr/>
          <p:nvPr/>
        </p:nvSpPr>
        <p:spPr>
          <a:xfrm>
            <a:off x="914400" y="1188720"/>
            <a:ext cx="2743200" cy="45720"/>
          </a:xfrm>
          <a:prstGeom prst="rect">
            <a:avLst/>
          </a:prstGeom>
          <a:solidFill>
            <a:srgbClr val="6B7280"/>
          </a:solidFill>
          <a:ln/>
        </p:spPr>
      </p:sp>
      <p:sp>
        <p:nvSpPr>
          <p:cNvPr id="5" name="Text 3"/>
          <p:cNvSpPr/>
          <p:nvPr/>
        </p:nvSpPr>
        <p:spPr>
          <a:xfrm>
            <a:off x="640080" y="1645920"/>
            <a:ext cx="3657600" cy="4572000"/>
          </a:xfrm>
          <a:prstGeom prst="rect">
            <a:avLst/>
          </a:prstGeom>
          <a:noFill/>
          <a:ln/>
        </p:spPr>
        <p:txBody>
          <a:bodyPr wrap="square" rtlCol="0" anchor="t"/>
          <a:lstStyle/>
          <a:p>
            <a:pPr algn="l" indent="0" marL="0">
              <a:lnSpc>
                <a:spcPts val="2000"/>
              </a:lnSpc>
              <a:buNone/>
            </a:pPr>
            <a:r>
              <a:rPr lang="en-US" sz="1800" dirty="0">
                <a:solidFill>
                  <a:srgbClr val="111827"/>
                </a:solidFill>
              </a:rPr>
              <a:t>Python: Main programming language</a:t>
            </a:r>
            <a:endParaRPr lang="en-US" sz="1800" dirty="0"/>
          </a:p>
        </p:txBody>
      </p:sp>
      <p:sp>
        <p:nvSpPr>
          <p:cNvPr id="6" name="Text 4"/>
          <p:cNvSpPr/>
          <p:nvPr/>
        </p:nvSpPr>
        <p:spPr>
          <a:xfrm>
            <a:off x="4846320" y="1645920"/>
            <a:ext cx="3657600" cy="4572000"/>
          </a:xfrm>
          <a:prstGeom prst="rect">
            <a:avLst/>
          </a:prstGeom>
          <a:noFill/>
          <a:ln/>
        </p:spPr>
        <p:txBody>
          <a:bodyPr wrap="square" rtlCol="0" anchor="t"/>
          <a:lstStyle/>
          <a:p>
            <a:pPr algn="l" indent="0" marL="0">
              <a:lnSpc>
                <a:spcPts val="2000"/>
              </a:lnSpc>
              <a:buNone/>
            </a:pPr>
            <a:r>
              <a:rPr lang="en-US" sz="1800" dirty="0">
                <a:solidFill>
                  <a:srgbClr val="111827"/>
                </a:solidFill>
              </a:rPr>
              <a:t>Pandas: For reading and processing CSV files</a:t>
            </a:r>
            <a:endParaRPr lang="en-US" sz="1800" dirty="0"/>
          </a:p>
        </p:txBody>
      </p:sp>
      <p:sp>
        <p:nvSpPr>
          <p:cNvPr id="7" name="Shape 5"/>
          <p:cNvSpPr/>
          <p:nvPr/>
        </p:nvSpPr>
        <p:spPr>
          <a:xfrm>
            <a:off x="0" y="6720840"/>
            <a:ext cx="9144000" cy="137160"/>
          </a:xfrm>
          <a:prstGeom prst="rect">
            <a:avLst/>
          </a:prstGeom>
          <a:solidFill>
            <a:srgbClr val="4B5563"/>
          </a:solidFill>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374151"/>
          </a:solidFill>
          <a:ln/>
        </p:spPr>
      </p:sp>
      <p:sp>
        <p:nvSpPr>
          <p:cNvPr id="3" name="Text 1"/>
          <p:cNvSpPr/>
          <p:nvPr/>
        </p:nvSpPr>
        <p:spPr>
          <a:xfrm>
            <a:off x="457200" y="457200"/>
            <a:ext cx="8229600" cy="731520"/>
          </a:xfrm>
          <a:prstGeom prst="rect">
            <a:avLst/>
          </a:prstGeom>
          <a:noFill/>
          <a:ln/>
        </p:spPr>
        <p:txBody>
          <a:bodyPr wrap="square" rtlCol="0" anchor="ctr"/>
          <a:lstStyle/>
          <a:p>
            <a:pPr algn="l" indent="0" marL="0">
              <a:buNone/>
            </a:pPr>
            <a:r>
              <a:rPr lang="en-US" sz="3200" b="1" dirty="0">
                <a:solidFill>
                  <a:srgbClr val="374151"/>
                </a:solidFill>
              </a:rPr>
              <a:t>Essential Python Concepts Employed</a:t>
            </a:r>
            <a:endParaRPr lang="en-US" sz="3200" dirty="0"/>
          </a:p>
        </p:txBody>
      </p:sp>
      <p:sp>
        <p:nvSpPr>
          <p:cNvPr id="4" name="Shape 2"/>
          <p:cNvSpPr/>
          <p:nvPr/>
        </p:nvSpPr>
        <p:spPr>
          <a:xfrm>
            <a:off x="457200" y="1645920"/>
            <a:ext cx="2560320" cy="3200400"/>
          </a:xfrm>
          <a:prstGeom prst="rect">
            <a:avLst/>
          </a:prstGeom>
          <a:solidFill>
            <a:srgbClr val="E5E7EB"/>
          </a:solidFill>
          <a:ln/>
        </p:spPr>
      </p:sp>
      <p:sp>
        <p:nvSpPr>
          <p:cNvPr id="5" name="Text 3"/>
          <p:cNvSpPr/>
          <p:nvPr/>
        </p:nvSpPr>
        <p:spPr>
          <a:xfrm>
            <a:off x="548640" y="1828800"/>
            <a:ext cx="2377440" cy="2834640"/>
          </a:xfrm>
          <a:prstGeom prst="rect">
            <a:avLst/>
          </a:prstGeom>
          <a:noFill/>
          <a:ln/>
        </p:spPr>
        <p:txBody>
          <a:bodyPr wrap="square" rtlCol="0" anchor="t"/>
          <a:lstStyle/>
          <a:p>
            <a:pPr algn="l" indent="0" marL="0">
              <a:lnSpc>
                <a:spcPts val="2000"/>
              </a:lnSpc>
              <a:buNone/>
            </a:pPr>
            <a:r>
              <a:rPr lang="en-US" sz="1400" dirty="0">
                <a:solidFill>
                  <a:srgbClr val="111827"/>
                </a:solidFill>
              </a:rPr>
              <a:t>Understanding key concepts enhances programming efficiency. We utilize if–else conditions for decision making</a:t>
            </a:r>
            <a:endParaRPr lang="en-US" sz="1400" dirty="0"/>
          </a:p>
        </p:txBody>
      </p:sp>
      <p:sp>
        <p:nvSpPr>
          <p:cNvPr id="6" name="Shape 4"/>
          <p:cNvSpPr/>
          <p:nvPr/>
        </p:nvSpPr>
        <p:spPr>
          <a:xfrm>
            <a:off x="3291840" y="1645920"/>
            <a:ext cx="2560320" cy="3200400"/>
          </a:xfrm>
          <a:prstGeom prst="rect">
            <a:avLst/>
          </a:prstGeom>
          <a:solidFill>
            <a:srgbClr val="E5E7EB"/>
          </a:solidFill>
          <a:ln/>
        </p:spPr>
      </p:sp>
      <p:sp>
        <p:nvSpPr>
          <p:cNvPr id="7" name="Text 5"/>
          <p:cNvSpPr/>
          <p:nvPr/>
        </p:nvSpPr>
        <p:spPr>
          <a:xfrm>
            <a:off x="3383280" y="1828800"/>
            <a:ext cx="2377440" cy="2834640"/>
          </a:xfrm>
          <a:prstGeom prst="rect">
            <a:avLst/>
          </a:prstGeom>
          <a:noFill/>
          <a:ln/>
        </p:spPr>
        <p:txBody>
          <a:bodyPr wrap="square" rtlCol="0" anchor="t"/>
          <a:lstStyle/>
          <a:p>
            <a:pPr algn="l" indent="0" marL="0">
              <a:lnSpc>
                <a:spcPts val="2000"/>
              </a:lnSpc>
              <a:buNone/>
            </a:pPr>
            <a:r>
              <a:rPr lang="en-US" sz="1400" dirty="0">
                <a:solidFill>
                  <a:srgbClr val="111827"/>
                </a:solidFill>
              </a:rPr>
              <a:t>Loops to iterate data collection</a:t>
            </a:r>
            <a:endParaRPr lang="en-US" sz="1400" dirty="0"/>
          </a:p>
        </p:txBody>
      </p:sp>
      <p:sp>
        <p:nvSpPr>
          <p:cNvPr id="8" name="Shape 6"/>
          <p:cNvSpPr/>
          <p:nvPr/>
        </p:nvSpPr>
        <p:spPr>
          <a:xfrm>
            <a:off x="6126480" y="1645920"/>
            <a:ext cx="2560320" cy="3200400"/>
          </a:xfrm>
          <a:prstGeom prst="rect">
            <a:avLst/>
          </a:prstGeom>
          <a:solidFill>
            <a:srgbClr val="E5E7EB"/>
          </a:solidFill>
          <a:ln/>
        </p:spPr>
      </p:sp>
      <p:sp>
        <p:nvSpPr>
          <p:cNvPr id="9" name="Text 7"/>
          <p:cNvSpPr/>
          <p:nvPr/>
        </p:nvSpPr>
        <p:spPr>
          <a:xfrm>
            <a:off x="6217920" y="1828800"/>
            <a:ext cx="2377440" cy="2834640"/>
          </a:xfrm>
          <a:prstGeom prst="rect">
            <a:avLst/>
          </a:prstGeom>
          <a:noFill/>
          <a:ln/>
        </p:spPr>
        <p:txBody>
          <a:bodyPr wrap="square" rtlCol="0" anchor="t"/>
          <a:lstStyle/>
          <a:p>
            <a:pPr algn="l" indent="0" marL="0">
              <a:lnSpc>
                <a:spcPts val="2000"/>
              </a:lnSpc>
              <a:buNone/>
            </a:pPr>
            <a:r>
              <a:rPr lang="en-US" sz="1400" dirty="0">
                <a:solidFill>
                  <a:srgbClr val="111827"/>
                </a:solidFill>
              </a:rPr>
              <a:t>Functions to encapsulate reusable logic. Each concept improves code efficiency and readability.</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374151"/>
          </a:solidFill>
          <a:ln/>
        </p:spPr>
      </p:sp>
      <p:sp>
        <p:nvSpPr>
          <p:cNvPr id="3" name="Text 1"/>
          <p:cNvSpPr/>
          <p:nvPr/>
        </p:nvSpPr>
        <p:spPr>
          <a:xfrm>
            <a:off x="914400" y="457200"/>
            <a:ext cx="7315200" cy="914400"/>
          </a:xfrm>
          <a:prstGeom prst="rect">
            <a:avLst/>
          </a:prstGeom>
          <a:noFill/>
          <a:ln/>
        </p:spPr>
        <p:txBody>
          <a:bodyPr wrap="square" rtlCol="0" anchor="ctr"/>
          <a:lstStyle/>
          <a:p>
            <a:pPr algn="l" indent="0" marL="0">
              <a:buNone/>
            </a:pPr>
            <a:r>
              <a:rPr lang="en-US" sz="2400" b="1" dirty="0">
                <a:solidFill>
                  <a:srgbClr val="374151"/>
                </a:solidFill>
              </a:rPr>
              <a:t>Step-by-Step Stock Checking Logic</a:t>
            </a:r>
            <a:endParaRPr lang="en-US" sz="2400" dirty="0"/>
          </a:p>
        </p:txBody>
      </p:sp>
      <p:sp>
        <p:nvSpPr>
          <p:cNvPr id="4" name="Shape 2"/>
          <p:cNvSpPr/>
          <p:nvPr/>
        </p:nvSpPr>
        <p:spPr>
          <a:xfrm>
            <a:off x="914400" y="1188720"/>
            <a:ext cx="2743200" cy="45720"/>
          </a:xfrm>
          <a:prstGeom prst="rect">
            <a:avLst/>
          </a:prstGeom>
          <a:solidFill>
            <a:srgbClr val="6B7280"/>
          </a:solidFill>
          <a:ln/>
        </p:spPr>
      </p:sp>
      <p:sp>
        <p:nvSpPr>
          <p:cNvPr id="5" name="Text 3"/>
          <p:cNvSpPr/>
          <p:nvPr/>
        </p:nvSpPr>
        <p:spPr>
          <a:xfrm>
            <a:off x="914400" y="1463040"/>
            <a:ext cx="7315200" cy="914400"/>
          </a:xfrm>
          <a:prstGeom prst="rect">
            <a:avLst/>
          </a:prstGeom>
          <a:noFill/>
          <a:ln/>
        </p:spPr>
        <p:txBody>
          <a:bodyPr wrap="square" rtlCol="0" anchor="t"/>
          <a:lstStyle/>
          <a:p>
            <a:pPr algn="l" indent="0" marL="0">
              <a:lnSpc>
                <a:spcPts val="2000"/>
              </a:lnSpc>
              <a:buNone/>
            </a:pPr>
            <a:r>
              <a:rPr lang="en-US" sz="1800" dirty="0">
                <a:solidFill>
                  <a:srgbClr val="4B5563"/>
                </a:solidFill>
              </a:rPr>
              <a:t>The logic for assessing stock levels is straightforward, ensuring clarity and effectiveness.</a:t>
            </a:r>
            <a:endParaRPr lang="en-US" sz="1800" dirty="0"/>
          </a:p>
        </p:txBody>
      </p:sp>
      <p:sp>
        <p:nvSpPr>
          <p:cNvPr id="6" name="Text 4"/>
          <p:cNvSpPr/>
          <p:nvPr/>
        </p:nvSpPr>
        <p:spPr>
          <a:xfrm>
            <a:off x="914400" y="2560320"/>
            <a:ext cx="7315200" cy="4114800"/>
          </a:xfrm>
          <a:prstGeom prst="rect">
            <a:avLst/>
          </a:prstGeom>
          <a:noFill/>
          <a:ln/>
        </p:spPr>
        <p:txBody>
          <a:bodyPr wrap="square" rtlCol="0" anchor="t"/>
          <a:lstStyle/>
          <a:p>
            <a:pPr algn="l" indent="0" marL="0">
              <a:lnSpc>
                <a:spcPts val="1800"/>
              </a:lnSpc>
              <a:buNone/>
            </a:pPr>
            <a:r>
              <a:rPr lang="en-US" sz="1800" dirty="0">
                <a:solidFill>
                  <a:srgbClr val="111827"/>
                </a:solidFill>
              </a:rPr>
              <a:t>• Condition: stock &lt;= 5 → Out of Stock</a:t>
            </a:r>
            <a:endParaRPr lang="en-US" sz="1800" dirty="0"/>
          </a:p>
          <a:p>
            <a:pPr algn="l" indent="0" marL="0">
              <a:lnSpc>
                <a:spcPts val="1800"/>
              </a:lnSpc>
              <a:buNone/>
            </a:pPr>
            <a:r>
              <a:rPr lang="en-US" sz="1800" dirty="0">
                <a:solidFill>
                  <a:srgbClr val="111827"/>
                </a:solidFill>
              </a:rPr>
              <a:t>• Condition: stock &gt;= 20 → Overstock</a:t>
            </a:r>
            <a:endParaRPr lang="en-US" sz="1800" dirty="0"/>
          </a:p>
          <a:p>
            <a:pPr algn="l" indent="0" marL="0">
              <a:lnSpc>
                <a:spcPts val="1800"/>
              </a:lnSpc>
              <a:buNone/>
            </a:pPr>
            <a:r>
              <a:rPr lang="en-US" sz="1800" dirty="0">
                <a:solidFill>
                  <a:srgbClr val="111827"/>
                </a:solidFill>
              </a:rPr>
              <a:t>• Else → Normal Stock</a:t>
            </a:r>
            <a:endParaRPr lang="en-US" sz="1800" dirty="0"/>
          </a:p>
          <a:p>
            <a:pPr algn="l" indent="0" marL="0">
              <a:lnSpc>
                <a:spcPts val="1800"/>
              </a:lnSpc>
              <a:buNone/>
            </a:pPr>
            <a:r>
              <a:rPr lang="en-US" sz="1800" dirty="0">
                <a:solidFill>
                  <a:srgbClr val="111827"/>
                </a:solidFill>
              </a:rPr>
              <a:t>• Alerts for critical levels enhance responsiveness</a:t>
            </a:r>
            <a:endParaRPr lang="en-US" sz="1800" dirty="0"/>
          </a:p>
          <a:p>
            <a:pPr algn="l" indent="0" marL="0">
              <a:lnSpc>
                <a:spcPts val="1800"/>
              </a:lnSpc>
              <a:buNone/>
            </a:pPr>
            <a:r>
              <a:rPr lang="en-US" sz="1800" dirty="0">
                <a:solidFill>
                  <a:srgbClr val="111827"/>
                </a:solidFill>
              </a:rPr>
              <a:t>• Ensures an optimal balance for inventory management</a:t>
            </a:r>
            <a:endParaRPr lang="en-US" sz="1800" dirty="0"/>
          </a:p>
        </p:txBody>
      </p:sp>
      <p:sp>
        <p:nvSpPr>
          <p:cNvPr id="7" name="Shape 5"/>
          <p:cNvSpPr/>
          <p:nvPr/>
        </p:nvSpPr>
        <p:spPr>
          <a:xfrm>
            <a:off x="0" y="6720840"/>
            <a:ext cx="9144000" cy="137160"/>
          </a:xfrm>
          <a:prstGeom prst="rect">
            <a:avLst/>
          </a:prstGeom>
          <a:solidFill>
            <a:srgbClr val="4B5563"/>
          </a:solidFill>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374151"/>
          </a:solidFill>
          <a:ln/>
        </p:spPr>
      </p:sp>
      <p:sp>
        <p:nvSpPr>
          <p:cNvPr id="3" name="Text 1"/>
          <p:cNvSpPr/>
          <p:nvPr/>
        </p:nvSpPr>
        <p:spPr>
          <a:xfrm>
            <a:off x="914400" y="457200"/>
            <a:ext cx="7315200" cy="914400"/>
          </a:xfrm>
          <a:prstGeom prst="rect">
            <a:avLst/>
          </a:prstGeom>
          <a:noFill/>
          <a:ln/>
        </p:spPr>
        <p:txBody>
          <a:bodyPr wrap="square" rtlCol="0" anchor="ctr"/>
          <a:lstStyle/>
          <a:p>
            <a:pPr algn="l" indent="0" marL="0">
              <a:buNone/>
            </a:pPr>
            <a:r>
              <a:rPr lang="en-US" sz="2400" b="1" dirty="0">
                <a:solidFill>
                  <a:srgbClr val="374151"/>
                </a:solidFill>
              </a:rPr>
              <a:t>The Workflow Overview</a:t>
            </a:r>
            <a:endParaRPr lang="en-US" sz="2400" dirty="0"/>
          </a:p>
        </p:txBody>
      </p:sp>
      <p:sp>
        <p:nvSpPr>
          <p:cNvPr id="4" name="Shape 2"/>
          <p:cNvSpPr/>
          <p:nvPr/>
        </p:nvSpPr>
        <p:spPr>
          <a:xfrm>
            <a:off x="914400" y="1188720"/>
            <a:ext cx="2743200" cy="45720"/>
          </a:xfrm>
          <a:prstGeom prst="rect">
            <a:avLst/>
          </a:prstGeom>
          <a:solidFill>
            <a:srgbClr val="6B7280"/>
          </a:solidFill>
          <a:ln/>
        </p:spPr>
      </p:sp>
      <p:sp>
        <p:nvSpPr>
          <p:cNvPr id="5" name="Text 3"/>
          <p:cNvSpPr/>
          <p:nvPr/>
        </p:nvSpPr>
        <p:spPr>
          <a:xfrm>
            <a:off x="914400" y="1463040"/>
            <a:ext cx="7315200" cy="914400"/>
          </a:xfrm>
          <a:prstGeom prst="rect">
            <a:avLst/>
          </a:prstGeom>
          <a:noFill/>
          <a:ln/>
        </p:spPr>
        <p:txBody>
          <a:bodyPr wrap="square" rtlCol="0" anchor="t"/>
          <a:lstStyle/>
          <a:p>
            <a:pPr algn="l" indent="0" marL="0">
              <a:lnSpc>
                <a:spcPts val="2000"/>
              </a:lnSpc>
              <a:buNone/>
            </a:pPr>
            <a:r>
              <a:rPr lang="en-US" sz="1800" dirty="0">
                <a:solidFill>
                  <a:srgbClr val="4B5563"/>
                </a:solidFill>
              </a:rPr>
              <a:t>A clear workflow is vital for successful implementation.</a:t>
            </a:r>
            <a:endParaRPr lang="en-US" sz="1800" dirty="0"/>
          </a:p>
        </p:txBody>
      </p:sp>
      <p:sp>
        <p:nvSpPr>
          <p:cNvPr id="6" name="Text 4"/>
          <p:cNvSpPr/>
          <p:nvPr/>
        </p:nvSpPr>
        <p:spPr>
          <a:xfrm>
            <a:off x="914400" y="2560320"/>
            <a:ext cx="7315200" cy="4114800"/>
          </a:xfrm>
          <a:prstGeom prst="rect">
            <a:avLst/>
          </a:prstGeom>
          <a:noFill/>
          <a:ln/>
        </p:spPr>
        <p:txBody>
          <a:bodyPr wrap="square" rtlCol="0" anchor="t"/>
          <a:lstStyle/>
          <a:p>
            <a:pPr algn="l" indent="0" marL="0">
              <a:lnSpc>
                <a:spcPts val="1800"/>
              </a:lnSpc>
              <a:buNone/>
            </a:pPr>
            <a:r>
              <a:rPr lang="en-US" sz="1800" dirty="0">
                <a:solidFill>
                  <a:srgbClr val="111827"/>
                </a:solidFill>
              </a:rPr>
              <a:t>• Step 1: Load sales dataset</a:t>
            </a:r>
            <a:endParaRPr lang="en-US" sz="1800" dirty="0"/>
          </a:p>
          <a:p>
            <a:pPr algn="l" indent="0" marL="0">
              <a:lnSpc>
                <a:spcPts val="1800"/>
              </a:lnSpc>
              <a:buNone/>
            </a:pPr>
            <a:r>
              <a:rPr lang="en-US" sz="1800" dirty="0">
                <a:solidFill>
                  <a:srgbClr val="111827"/>
                </a:solidFill>
              </a:rPr>
              <a:t>• Step 2: Fetch stock values</a:t>
            </a:r>
            <a:endParaRPr lang="en-US" sz="1800" dirty="0"/>
          </a:p>
          <a:p>
            <a:pPr algn="l" indent="0" marL="0">
              <a:lnSpc>
                <a:spcPts val="1800"/>
              </a:lnSpc>
              <a:buNone/>
            </a:pPr>
            <a:r>
              <a:rPr lang="en-US" sz="1800" dirty="0">
                <a:solidFill>
                  <a:srgbClr val="111827"/>
                </a:solidFill>
              </a:rPr>
              <a:t>• Step 3: Apply condition logic</a:t>
            </a:r>
            <a:endParaRPr lang="en-US" sz="1800" dirty="0"/>
          </a:p>
          <a:p>
            <a:pPr algn="l" indent="0" marL="0">
              <a:lnSpc>
                <a:spcPts val="1800"/>
              </a:lnSpc>
              <a:buNone/>
            </a:pPr>
            <a:r>
              <a:rPr lang="en-US" sz="1800" dirty="0">
                <a:solidFill>
                  <a:srgbClr val="111827"/>
                </a:solidFill>
              </a:rPr>
              <a:t>• Step 4: Categorize stock levels</a:t>
            </a:r>
            <a:endParaRPr lang="en-US" sz="1800" dirty="0"/>
          </a:p>
          <a:p>
            <a:pPr algn="l" indent="0" marL="0">
              <a:lnSpc>
                <a:spcPts val="1800"/>
              </a:lnSpc>
              <a:buNone/>
            </a:pPr>
            <a:r>
              <a:rPr lang="en-US" sz="1800" dirty="0">
                <a:solidFill>
                  <a:srgbClr val="111827"/>
                </a:solidFill>
              </a:rPr>
              <a:t>• Step 5: Visualize results with graphs</a:t>
            </a:r>
            <a:endParaRPr lang="en-US" sz="1800" dirty="0"/>
          </a:p>
        </p:txBody>
      </p:sp>
      <p:sp>
        <p:nvSpPr>
          <p:cNvPr id="7" name="Shape 5"/>
          <p:cNvSpPr/>
          <p:nvPr/>
        </p:nvSpPr>
        <p:spPr>
          <a:xfrm>
            <a:off x="0" y="6720840"/>
            <a:ext cx="9144000" cy="137160"/>
          </a:xfrm>
          <a:prstGeom prst="rect">
            <a:avLst/>
          </a:prstGeom>
          <a:solidFill>
            <a:srgbClr val="4B5563"/>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374151"/>
          </a:solidFill>
          <a:ln/>
        </p:spPr>
      </p:sp>
      <p:sp>
        <p:nvSpPr>
          <p:cNvPr id="3" name="Text 1"/>
          <p:cNvSpPr/>
          <p:nvPr/>
        </p:nvSpPr>
        <p:spPr>
          <a:xfrm>
            <a:off x="914400" y="457200"/>
            <a:ext cx="7315200" cy="914400"/>
          </a:xfrm>
          <a:prstGeom prst="rect">
            <a:avLst/>
          </a:prstGeom>
          <a:noFill/>
          <a:ln/>
        </p:spPr>
        <p:txBody>
          <a:bodyPr wrap="square" rtlCol="0" anchor="ctr"/>
          <a:lstStyle/>
          <a:p>
            <a:pPr algn="l" indent="0" marL="0">
              <a:buNone/>
            </a:pPr>
            <a:r>
              <a:rPr lang="en-US" sz="2400" b="1" dirty="0">
                <a:solidFill>
                  <a:srgbClr val="374151"/>
                </a:solidFill>
              </a:rPr>
              <a:t>Sample Code Illustration</a:t>
            </a:r>
            <a:endParaRPr lang="en-US" sz="2400" dirty="0"/>
          </a:p>
        </p:txBody>
      </p:sp>
      <p:sp>
        <p:nvSpPr>
          <p:cNvPr id="4" name="Shape 2"/>
          <p:cNvSpPr/>
          <p:nvPr/>
        </p:nvSpPr>
        <p:spPr>
          <a:xfrm>
            <a:off x="914400" y="1188720"/>
            <a:ext cx="2743200" cy="45720"/>
          </a:xfrm>
          <a:prstGeom prst="rect">
            <a:avLst/>
          </a:prstGeom>
          <a:solidFill>
            <a:srgbClr val="6B7280"/>
          </a:solidFill>
          <a:ln/>
        </p:spPr>
      </p:sp>
      <p:sp>
        <p:nvSpPr>
          <p:cNvPr id="5" name="Text 3"/>
          <p:cNvSpPr/>
          <p:nvPr/>
        </p:nvSpPr>
        <p:spPr>
          <a:xfrm>
            <a:off x="548640" y="1371600"/>
            <a:ext cx="4572000" cy="3657600"/>
          </a:xfrm>
          <a:prstGeom prst="rect">
            <a:avLst/>
          </a:prstGeom>
          <a:noFill/>
          <a:ln/>
        </p:spPr>
        <p:txBody>
          <a:bodyPr wrap="square" rtlCol="0" anchor="t"/>
          <a:lstStyle/>
          <a:p>
            <a:pPr algn="l" indent="0" marL="0">
              <a:lnSpc>
                <a:spcPts val="2200"/>
              </a:lnSpc>
              <a:buNone/>
            </a:pPr>
            <a:r>
              <a:rPr lang="en-US" sz="1800" dirty="0">
                <a:solidFill>
                  <a:srgbClr val="111827"/>
                </a:solidFill>
              </a:rPr>
              <a:t>Here's a snippet of Python code that exemplifies our stock checking logic and decision-making process.</a:t>
            </a:r>
            <a:endParaRPr lang="en-US" sz="1800" dirty="0"/>
          </a:p>
        </p:txBody>
      </p:sp>
      <p:pic>
        <p:nvPicPr>
          <p:cNvPr id="6" name="Image 0" descr="https://images.pexels.com/photos/34803969/pexels-photo-34803969.jpeg">    </p:cNvPr>
          <p:cNvPicPr>
            <a:picLocks noChangeAspect="1"/>
          </p:cNvPicPr>
          <p:nvPr/>
        </p:nvPicPr>
        <p:blipFill>
          <a:blip r:embed="rId1"/>
          <a:srcRect l="0" r="0" t="0" b="0"/>
          <a:stretch/>
        </p:blipFill>
        <p:spPr>
          <a:xfrm>
            <a:off x="5486400" y="1280160"/>
            <a:ext cx="2926080" cy="3108960"/>
          </a:xfrm>
          <a:prstGeom prst="rect">
            <a:avLst/>
          </a:prstGeom>
        </p:spPr>
      </p:pic>
      <p:sp>
        <p:nvSpPr>
          <p:cNvPr id="7" name="Text 4"/>
          <p:cNvSpPr/>
          <p:nvPr/>
        </p:nvSpPr>
        <p:spPr>
          <a:xfrm>
            <a:off x="5303520" y="4754880"/>
            <a:ext cx="3200400" cy="365760"/>
          </a:xfrm>
          <a:prstGeom prst="rect">
            <a:avLst/>
          </a:prstGeom>
          <a:noFill/>
          <a:ln/>
        </p:spPr>
        <p:txBody>
          <a:bodyPr wrap="square" rtlCol="0" anchor="b"/>
          <a:lstStyle/>
          <a:p>
            <a:pPr algn="ctr" indent="0" marL="0">
              <a:buNone/>
            </a:pPr>
            <a:r>
              <a:rPr lang="en-US" sz="1200" dirty="0">
                <a:solidFill>
                  <a:srgbClr val="9CA3AF"/>
                </a:solidFill>
              </a:rPr>
              <a:t>Photo by Daniil Komov on Pexels</a:t>
            </a:r>
            <a:endParaRPr lang="en-US" sz="1200" dirty="0"/>
          </a:p>
        </p:txBody>
      </p:sp>
      <p:sp>
        <p:nvSpPr>
          <p:cNvPr id="8" name="Shape 5"/>
          <p:cNvSpPr/>
          <p:nvPr/>
        </p:nvSpPr>
        <p:spPr>
          <a:xfrm>
            <a:off x="0" y="6720840"/>
            <a:ext cx="9144000" cy="137160"/>
          </a:xfrm>
          <a:prstGeom prst="rect">
            <a:avLst/>
          </a:prstGeom>
          <a:solidFill>
            <a:srgbClr val="4B5563"/>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6B7280"/>
          </a:solidFill>
          <a:ln/>
        </p:spPr>
      </p:sp>
      <p:sp>
        <p:nvSpPr>
          <p:cNvPr id="3" name="Text 1"/>
          <p:cNvSpPr/>
          <p:nvPr/>
        </p:nvSpPr>
        <p:spPr>
          <a:xfrm>
            <a:off x="914400" y="457200"/>
            <a:ext cx="7315200" cy="914400"/>
          </a:xfrm>
          <a:prstGeom prst="rect">
            <a:avLst/>
          </a:prstGeom>
          <a:noFill/>
          <a:ln/>
        </p:spPr>
        <p:txBody>
          <a:bodyPr wrap="square" rtlCol="0" anchor="ctr"/>
          <a:lstStyle/>
          <a:p>
            <a:pPr algn="l" indent="0" marL="0">
              <a:buNone/>
            </a:pPr>
            <a:r>
              <a:rPr lang="en-US" sz="2600" b="1" dirty="0">
                <a:solidFill>
                  <a:srgbClr val="374151"/>
                </a:solidFill>
              </a:rPr>
              <a:t>Analyzing Observations</a:t>
            </a:r>
            <a:endParaRPr lang="en-US" sz="2600" dirty="0"/>
          </a:p>
        </p:txBody>
      </p:sp>
      <p:sp>
        <p:nvSpPr>
          <p:cNvPr id="4" name="Shape 2"/>
          <p:cNvSpPr/>
          <p:nvPr/>
        </p:nvSpPr>
        <p:spPr>
          <a:xfrm>
            <a:off x="914400" y="1371600"/>
            <a:ext cx="1828800" cy="27432"/>
          </a:xfrm>
          <a:prstGeom prst="rect">
            <a:avLst/>
          </a:prstGeom>
          <a:solidFill>
            <a:srgbClr val="4B5563"/>
          </a:solidFill>
          <a:ln/>
        </p:spPr>
      </p:sp>
      <p:sp>
        <p:nvSpPr>
          <p:cNvPr id="5" name="Text 3"/>
          <p:cNvSpPr/>
          <p:nvPr/>
        </p:nvSpPr>
        <p:spPr>
          <a:xfrm>
            <a:off x="914400" y="2011680"/>
            <a:ext cx="7315200" cy="4389120"/>
          </a:xfrm>
          <a:prstGeom prst="rect">
            <a:avLst/>
          </a:prstGeom>
          <a:noFill/>
          <a:ln/>
        </p:spPr>
        <p:txBody>
          <a:bodyPr wrap="square" rtlCol="0" anchor="t"/>
          <a:lstStyle/>
          <a:p>
            <a:pPr algn="l" indent="0" marL="0">
              <a:lnSpc>
                <a:spcPts val="2400"/>
              </a:lnSpc>
              <a:buNone/>
            </a:pPr>
            <a:r>
              <a:rPr lang="en-US" sz="1800" dirty="0">
                <a:solidFill>
                  <a:srgbClr val="111827"/>
                </a:solidFill>
              </a:rPr>
              <a:t>The implemented checks monitor daily stock movements, making it easier to react to changes. The logic effectively identifies critical stock levels, helping retailers maintain a balanced inventory without unnecessary overstocking.</a:t>
            </a:r>
            <a:endParaRPr lang="en-US" sz="1800" dirty="0"/>
          </a:p>
        </p:txBody>
      </p:sp>
      <p:sp>
        <p:nvSpPr>
          <p:cNvPr id="6" name="Shape 4"/>
          <p:cNvSpPr/>
          <p:nvPr/>
        </p:nvSpPr>
        <p:spPr>
          <a:xfrm>
            <a:off x="0" y="6812280"/>
            <a:ext cx="9144000" cy="45720"/>
          </a:xfrm>
          <a:prstGeom prst="rect">
            <a:avLst/>
          </a:prstGeom>
          <a:solidFill>
            <a:srgbClr val="374151"/>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374151"/>
          </a:solidFill>
          <a:ln/>
        </p:spPr>
      </p:sp>
      <p:sp>
        <p:nvSpPr>
          <p:cNvPr id="3" name="Text 1"/>
          <p:cNvSpPr/>
          <p:nvPr/>
        </p:nvSpPr>
        <p:spPr>
          <a:xfrm>
            <a:off x="914400" y="457200"/>
            <a:ext cx="7315200" cy="914400"/>
          </a:xfrm>
          <a:prstGeom prst="rect">
            <a:avLst/>
          </a:prstGeom>
          <a:noFill/>
          <a:ln/>
        </p:spPr>
        <p:txBody>
          <a:bodyPr wrap="square" rtlCol="0" anchor="ctr"/>
          <a:lstStyle/>
          <a:p>
            <a:pPr algn="l" indent="0" marL="0">
              <a:buNone/>
            </a:pPr>
            <a:r>
              <a:rPr lang="en-US" sz="2400" b="1" dirty="0">
                <a:solidFill>
                  <a:srgbClr val="374151"/>
                </a:solidFill>
              </a:rPr>
              <a:t>Advantages of Our Approach</a:t>
            </a:r>
            <a:endParaRPr lang="en-US" sz="2400" dirty="0"/>
          </a:p>
        </p:txBody>
      </p:sp>
      <p:sp>
        <p:nvSpPr>
          <p:cNvPr id="4" name="Shape 2"/>
          <p:cNvSpPr/>
          <p:nvPr/>
        </p:nvSpPr>
        <p:spPr>
          <a:xfrm>
            <a:off x="914400" y="1188720"/>
            <a:ext cx="2743200" cy="45720"/>
          </a:xfrm>
          <a:prstGeom prst="rect">
            <a:avLst/>
          </a:prstGeom>
          <a:solidFill>
            <a:srgbClr val="6B7280"/>
          </a:solidFill>
          <a:ln/>
        </p:spPr>
      </p:sp>
      <p:sp>
        <p:nvSpPr>
          <p:cNvPr id="5" name="Text 3"/>
          <p:cNvSpPr/>
          <p:nvPr/>
        </p:nvSpPr>
        <p:spPr>
          <a:xfrm>
            <a:off x="640080" y="1645920"/>
            <a:ext cx="3657600" cy="4572000"/>
          </a:xfrm>
          <a:prstGeom prst="rect">
            <a:avLst/>
          </a:prstGeom>
          <a:noFill/>
          <a:ln/>
        </p:spPr>
        <p:txBody>
          <a:bodyPr wrap="square" rtlCol="0" anchor="t"/>
          <a:lstStyle/>
          <a:p>
            <a:pPr algn="l" indent="0" marL="0">
              <a:lnSpc>
                <a:spcPts val="2000"/>
              </a:lnSpc>
              <a:buNone/>
            </a:pPr>
            <a:r>
              <a:rPr lang="en-US" sz="1800" dirty="0">
                <a:solidFill>
                  <a:srgbClr val="111827"/>
                </a:solidFill>
              </a:rPr>
              <a:t>Understanding the benefits ensures the</a:t>
            </a:r>
            <a:endParaRPr lang="en-US" sz="1800" dirty="0"/>
          </a:p>
        </p:txBody>
      </p:sp>
      <p:sp>
        <p:nvSpPr>
          <p:cNvPr id="6" name="Text 4"/>
          <p:cNvSpPr/>
          <p:nvPr/>
        </p:nvSpPr>
        <p:spPr>
          <a:xfrm>
            <a:off x="4846320" y="1645920"/>
            <a:ext cx="3657600" cy="4572000"/>
          </a:xfrm>
          <a:prstGeom prst="rect">
            <a:avLst/>
          </a:prstGeom>
          <a:noFill/>
          <a:ln/>
        </p:spPr>
        <p:txBody>
          <a:bodyPr wrap="square" rtlCol="0" anchor="t"/>
          <a:lstStyle/>
          <a:p>
            <a:pPr algn="l" indent="0" marL="0">
              <a:lnSpc>
                <a:spcPts val="2000"/>
              </a:lnSpc>
              <a:buNone/>
            </a:pPr>
            <a:r>
              <a:rPr lang="en-US" sz="1800" dirty="0">
                <a:solidFill>
                  <a:srgbClr val="111827"/>
                </a:solidFill>
              </a:rPr>
              <a:t>system's relevance and effectiveness.</a:t>
            </a:r>
            <a:endParaRPr lang="en-US" sz="1800" dirty="0"/>
          </a:p>
        </p:txBody>
      </p:sp>
      <p:sp>
        <p:nvSpPr>
          <p:cNvPr id="7" name="Shape 5"/>
          <p:cNvSpPr/>
          <p:nvPr/>
        </p:nvSpPr>
        <p:spPr>
          <a:xfrm>
            <a:off x="0" y="6720840"/>
            <a:ext cx="9144000" cy="137160"/>
          </a:xfrm>
          <a:prstGeom prst="rect">
            <a:avLst/>
          </a:prstGeom>
          <a:solidFill>
            <a:srgbClr val="4B5563"/>
          </a:solidFill>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6B7280"/>
          </a:solidFill>
          <a:ln/>
        </p:spPr>
      </p:sp>
      <p:sp>
        <p:nvSpPr>
          <p:cNvPr id="3" name="Text 1"/>
          <p:cNvSpPr/>
          <p:nvPr/>
        </p:nvSpPr>
        <p:spPr>
          <a:xfrm>
            <a:off x="914400" y="457200"/>
            <a:ext cx="7315200" cy="914400"/>
          </a:xfrm>
          <a:prstGeom prst="rect">
            <a:avLst/>
          </a:prstGeom>
          <a:noFill/>
          <a:ln/>
        </p:spPr>
        <p:txBody>
          <a:bodyPr wrap="square" rtlCol="0" anchor="ctr"/>
          <a:lstStyle/>
          <a:p>
            <a:pPr algn="l" indent="0" marL="0">
              <a:buNone/>
            </a:pPr>
            <a:r>
              <a:rPr lang="en-US" sz="2600" b="1" dirty="0">
                <a:solidFill>
                  <a:srgbClr val="374151"/>
                </a:solidFill>
              </a:rPr>
              <a:t>Concluding Insights</a:t>
            </a:r>
            <a:endParaRPr lang="en-US" sz="2600" dirty="0"/>
          </a:p>
        </p:txBody>
      </p:sp>
      <p:sp>
        <p:nvSpPr>
          <p:cNvPr id="4" name="Shape 2"/>
          <p:cNvSpPr/>
          <p:nvPr/>
        </p:nvSpPr>
        <p:spPr>
          <a:xfrm>
            <a:off x="914400" y="1371600"/>
            <a:ext cx="1828800" cy="27432"/>
          </a:xfrm>
          <a:prstGeom prst="rect">
            <a:avLst/>
          </a:prstGeom>
          <a:solidFill>
            <a:srgbClr val="4B5563"/>
          </a:solidFill>
          <a:ln/>
        </p:spPr>
      </p:sp>
      <p:sp>
        <p:nvSpPr>
          <p:cNvPr id="5" name="Text 3"/>
          <p:cNvSpPr/>
          <p:nvPr/>
        </p:nvSpPr>
        <p:spPr>
          <a:xfrm>
            <a:off x="914400" y="2011680"/>
            <a:ext cx="7315200" cy="4389120"/>
          </a:xfrm>
          <a:prstGeom prst="rect">
            <a:avLst/>
          </a:prstGeom>
          <a:noFill/>
          <a:ln/>
        </p:spPr>
        <p:txBody>
          <a:bodyPr wrap="square" rtlCol="0" anchor="t"/>
          <a:lstStyle/>
          <a:p>
            <a:pPr algn="l" indent="0" marL="0">
              <a:lnSpc>
                <a:spcPts val="2400"/>
              </a:lnSpc>
              <a:buNone/>
            </a:pPr>
            <a:r>
              <a:rPr lang="en-US" sz="1800" dirty="0">
                <a:solidFill>
                  <a:srgbClr val="111827"/>
                </a:solidFill>
              </a:rPr>
              <a:t>Our work demonstrates Python's capability in inventory management and stock level monitoring. This system avoids unnecessary losses, while also illuminating pathways for enhanced management practices. The foundation we've established can be expanded into a more comprehensive backend application in the future.</a:t>
            </a:r>
            <a:endParaRPr lang="en-US" sz="1800" dirty="0"/>
          </a:p>
        </p:txBody>
      </p:sp>
      <p:sp>
        <p:nvSpPr>
          <p:cNvPr id="6" name="Shape 4"/>
          <p:cNvSpPr/>
          <p:nvPr/>
        </p:nvSpPr>
        <p:spPr>
          <a:xfrm>
            <a:off x="0" y="6812280"/>
            <a:ext cx="9144000" cy="45720"/>
          </a:xfrm>
          <a:prstGeom prst="rect">
            <a:avLst/>
          </a:prstGeom>
          <a:solidFill>
            <a:srgbClr val="374151"/>
          </a:solidFill>
          <a:ln/>
        </p:spPr>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37160"/>
          </a:xfrm>
          <a:prstGeom prst="rect">
            <a:avLst/>
          </a:prstGeom>
          <a:solidFill>
            <a:srgbClr val="374151"/>
          </a:solidFill>
          <a:ln/>
        </p:spPr>
      </p:sp>
      <p:sp>
        <p:nvSpPr>
          <p:cNvPr id="3" name="Text 1"/>
          <p:cNvSpPr/>
          <p:nvPr/>
        </p:nvSpPr>
        <p:spPr>
          <a:xfrm>
            <a:off x="914400" y="457200"/>
            <a:ext cx="7315200" cy="914400"/>
          </a:xfrm>
          <a:prstGeom prst="rect">
            <a:avLst/>
          </a:prstGeom>
          <a:noFill/>
          <a:ln/>
        </p:spPr>
        <p:txBody>
          <a:bodyPr wrap="square" rtlCol="0" anchor="ctr"/>
          <a:lstStyle/>
          <a:p>
            <a:pPr algn="l" indent="0" marL="0">
              <a:buNone/>
            </a:pPr>
            <a:r>
              <a:rPr lang="en-US" sz="2400" b="1" dirty="0">
                <a:solidFill>
                  <a:srgbClr val="374151"/>
                </a:solidFill>
              </a:rPr>
              <a:t>Key Takeaways and Next Steps</a:t>
            </a:r>
            <a:endParaRPr lang="en-US" sz="2400" dirty="0"/>
          </a:p>
        </p:txBody>
      </p:sp>
      <p:sp>
        <p:nvSpPr>
          <p:cNvPr id="4" name="Shape 2"/>
          <p:cNvSpPr/>
          <p:nvPr/>
        </p:nvSpPr>
        <p:spPr>
          <a:xfrm>
            <a:off x="914400" y="1188720"/>
            <a:ext cx="2743200" cy="45720"/>
          </a:xfrm>
          <a:prstGeom prst="rect">
            <a:avLst/>
          </a:prstGeom>
          <a:solidFill>
            <a:srgbClr val="6B7280"/>
          </a:solidFill>
          <a:ln/>
        </p:spPr>
      </p:sp>
      <p:sp>
        <p:nvSpPr>
          <p:cNvPr id="5" name="Text 3"/>
          <p:cNvSpPr/>
          <p:nvPr/>
        </p:nvSpPr>
        <p:spPr>
          <a:xfrm>
            <a:off x="914400" y="1463040"/>
            <a:ext cx="7315200" cy="914400"/>
          </a:xfrm>
          <a:prstGeom prst="rect">
            <a:avLst/>
          </a:prstGeom>
          <a:noFill/>
          <a:ln/>
        </p:spPr>
        <p:txBody>
          <a:bodyPr wrap="square" rtlCol="0" anchor="t"/>
          <a:lstStyle/>
          <a:p>
            <a:pPr algn="l" indent="0" marL="0">
              <a:lnSpc>
                <a:spcPts val="2000"/>
              </a:lnSpc>
              <a:buNone/>
            </a:pPr>
            <a:r>
              <a:rPr lang="en-US" sz="1800" dirty="0">
                <a:solidFill>
                  <a:srgbClr val="4B5563"/>
                </a:solidFill>
              </a:rPr>
              <a:t>Summarizing our journey through inventory optimization reveals exciting possibilities for growth.</a:t>
            </a:r>
            <a:endParaRPr lang="en-US" sz="1800" dirty="0"/>
          </a:p>
        </p:txBody>
      </p:sp>
      <p:sp>
        <p:nvSpPr>
          <p:cNvPr id="6" name="Text 4"/>
          <p:cNvSpPr/>
          <p:nvPr/>
        </p:nvSpPr>
        <p:spPr>
          <a:xfrm>
            <a:off x="914400" y="2560320"/>
            <a:ext cx="7315200" cy="4114800"/>
          </a:xfrm>
          <a:prstGeom prst="rect">
            <a:avLst/>
          </a:prstGeom>
          <a:noFill/>
          <a:ln/>
        </p:spPr>
        <p:txBody>
          <a:bodyPr wrap="square" rtlCol="0" anchor="t"/>
          <a:lstStyle/>
          <a:p>
            <a:pPr algn="l" indent="0" marL="0">
              <a:lnSpc>
                <a:spcPts val="1800"/>
              </a:lnSpc>
              <a:buNone/>
            </a:pPr>
            <a:r>
              <a:rPr lang="en-US" sz="1800" dirty="0">
                <a:solidFill>
                  <a:srgbClr val="111827"/>
                </a:solidFill>
              </a:rPr>
              <a:t>• Enhanced monitoring precision</a:t>
            </a:r>
            <a:endParaRPr lang="en-US" sz="1800" dirty="0"/>
          </a:p>
          <a:p>
            <a:pPr algn="l" indent="0" marL="0">
              <a:lnSpc>
                <a:spcPts val="1800"/>
              </a:lnSpc>
              <a:buNone/>
            </a:pPr>
            <a:r>
              <a:rPr lang="en-US" sz="1800" dirty="0">
                <a:solidFill>
                  <a:srgbClr val="111827"/>
                </a:solidFill>
              </a:rPr>
              <a:t>• Informed decision-making</a:t>
            </a:r>
            <a:endParaRPr lang="en-US" sz="1800" dirty="0"/>
          </a:p>
          <a:p>
            <a:pPr algn="l" indent="0" marL="0">
              <a:lnSpc>
                <a:spcPts val="1800"/>
              </a:lnSpc>
              <a:buNone/>
            </a:pPr>
            <a:r>
              <a:rPr lang="en-US" sz="1800" dirty="0">
                <a:solidFill>
                  <a:srgbClr val="111827"/>
                </a:solidFill>
              </a:rPr>
              <a:t>• Prevention of stock discrepancies</a:t>
            </a:r>
            <a:endParaRPr lang="en-US" sz="1800" dirty="0"/>
          </a:p>
          <a:p>
            <a:pPr algn="l" indent="0" marL="0">
              <a:lnSpc>
                <a:spcPts val="1800"/>
              </a:lnSpc>
              <a:buNone/>
            </a:pPr>
            <a:r>
              <a:rPr lang="en-US" sz="1800" dirty="0">
                <a:solidFill>
                  <a:srgbClr val="111827"/>
                </a:solidFill>
              </a:rPr>
              <a:t>• Foundation for scalable solutions</a:t>
            </a:r>
            <a:endParaRPr lang="en-US" sz="1800" dirty="0"/>
          </a:p>
        </p:txBody>
      </p:sp>
      <p:sp>
        <p:nvSpPr>
          <p:cNvPr id="7" name="Shape 5"/>
          <p:cNvSpPr/>
          <p:nvPr/>
        </p:nvSpPr>
        <p:spPr>
          <a:xfrm>
            <a:off x="0" y="6720840"/>
            <a:ext cx="9144000" cy="137160"/>
          </a:xfrm>
          <a:prstGeom prst="rect">
            <a:avLst/>
          </a:prstGeom>
          <a:solidFill>
            <a:srgbClr val="4B5563"/>
          </a:solidFill>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ln/>
        </p:spPr>
      </p:sp>
      <p:sp>
        <p:nvSpPr>
          <p:cNvPr id="3" name="Shape 1"/>
          <p:cNvSpPr/>
          <p:nvPr/>
        </p:nvSpPr>
        <p:spPr>
          <a:xfrm>
            <a:off x="0" y="0"/>
            <a:ext cx="9144000" cy="137160"/>
          </a:xfrm>
          <a:prstGeom prst="rect">
            <a:avLst/>
          </a:prstGeom>
          <a:solidFill>
            <a:srgbClr val="374151"/>
          </a:solidFill>
          <a:ln/>
        </p:spPr>
      </p:sp>
      <p:sp>
        <p:nvSpPr>
          <p:cNvPr id="4" name="Text 2"/>
          <p:cNvSpPr/>
          <p:nvPr/>
        </p:nvSpPr>
        <p:spPr>
          <a:xfrm>
            <a:off x="914400" y="1371600"/>
            <a:ext cx="7315200" cy="1371600"/>
          </a:xfrm>
          <a:prstGeom prst="rect">
            <a:avLst/>
          </a:prstGeom>
          <a:noFill/>
          <a:ln/>
        </p:spPr>
        <p:txBody>
          <a:bodyPr wrap="square" rtlCol="0" anchor="ctr"/>
          <a:lstStyle/>
          <a:p>
            <a:pPr algn="ctr" indent="0" marL="0">
              <a:buNone/>
            </a:pPr>
            <a:r>
              <a:rPr lang="en-US" sz="3600" b="1" dirty="0">
                <a:solidFill>
                  <a:srgbClr val="374151"/>
                </a:solidFill>
              </a:rPr>
              <a:t>Thank You!</a:t>
            </a:r>
            <a:endParaRPr lang="en-US" sz="3600" dirty="0"/>
          </a:p>
        </p:txBody>
      </p:sp>
      <p:sp>
        <p:nvSpPr>
          <p:cNvPr id="5" name="Text 3"/>
          <p:cNvSpPr/>
          <p:nvPr/>
        </p:nvSpPr>
        <p:spPr>
          <a:xfrm>
            <a:off x="914400" y="2057400"/>
            <a:ext cx="7315200" cy="1828800"/>
          </a:xfrm>
          <a:prstGeom prst="rect">
            <a:avLst/>
          </a:prstGeom>
          <a:noFill/>
          <a:ln/>
        </p:spPr>
        <p:txBody>
          <a:bodyPr wrap="square" rtlCol="0" anchor="ctr"/>
          <a:lstStyle/>
          <a:p>
            <a:pPr algn="ctr" indent="0" marL="0">
              <a:lnSpc>
                <a:spcPts val="2400"/>
              </a:lnSpc>
              <a:buNone/>
            </a:pPr>
            <a:r>
              <a:rPr lang="en-US" sz="1800" dirty="0">
                <a:solidFill>
                  <a:srgbClr val="4B5563"/>
                </a:solidFill>
              </a:rPr>
              <a:t>We appreciate your time and engagement. Let's optimize retail management together.</a:t>
            </a:r>
            <a:endParaRPr lang="en-US" sz="1800" dirty="0"/>
          </a:p>
        </p:txBody>
      </p:sp>
      <p:sp>
        <p:nvSpPr>
          <p:cNvPr id="6" name="Text 4"/>
          <p:cNvSpPr/>
          <p:nvPr/>
        </p:nvSpPr>
        <p:spPr>
          <a:xfrm>
            <a:off x="914400" y="3657600"/>
            <a:ext cx="7315200" cy="457200"/>
          </a:xfrm>
          <a:prstGeom prst="rect">
            <a:avLst/>
          </a:prstGeom>
          <a:noFill/>
          <a:ln/>
        </p:spPr>
        <p:txBody>
          <a:bodyPr wrap="square" rtlCol="0" anchor="ctr"/>
          <a:lstStyle/>
          <a:p>
            <a:pPr algn="ctr" indent="0" marL="0">
              <a:buNone/>
            </a:pPr>
            <a:r>
              <a:rPr lang="en-US" sz="1600" dirty="0">
                <a:solidFill>
                  <a:srgbClr val="111827"/>
                </a:solidFill>
              </a:rPr>
              <a:t>Questions &amp; Discussion Welcome</a:t>
            </a:r>
            <a:endParaRPr lang="en-US" sz="1600" dirty="0"/>
          </a:p>
        </p:txBody>
      </p:sp>
      <p:sp>
        <p:nvSpPr>
          <p:cNvPr id="7" name="Shape 5"/>
          <p:cNvSpPr/>
          <p:nvPr/>
        </p:nvSpPr>
        <p:spPr>
          <a:xfrm>
            <a:off x="0" y="5029200"/>
            <a:ext cx="9144000" cy="137160"/>
          </a:xfrm>
          <a:prstGeom prst="rect">
            <a:avLst/>
          </a:prstGeom>
          <a:solidFill>
            <a:srgbClr val="374151"/>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0"/>
          </a:xfrm>
          <a:prstGeom prst="rect">
            <a:avLst/>
          </a:prstGeom>
          <a:ln/>
        </p:spPr>
      </p:sp>
      <p:sp>
        <p:nvSpPr>
          <p:cNvPr id="3" name="Shape 1"/>
          <p:cNvSpPr/>
          <p:nvPr/>
        </p:nvSpPr>
        <p:spPr>
          <a:xfrm>
            <a:off x="0" y="0"/>
            <a:ext cx="9144000" cy="137160"/>
          </a:xfrm>
          <a:prstGeom prst="rect">
            <a:avLst/>
          </a:prstGeom>
          <a:solidFill>
            <a:srgbClr val="374151"/>
          </a:solidFill>
          <a:ln/>
        </p:spPr>
      </p:sp>
      <p:sp>
        <p:nvSpPr>
          <p:cNvPr id="4" name="Text 2"/>
          <p:cNvSpPr/>
          <p:nvPr/>
        </p:nvSpPr>
        <p:spPr>
          <a:xfrm>
            <a:off x="914400" y="1371600"/>
            <a:ext cx="7315200" cy="1371600"/>
          </a:xfrm>
          <a:prstGeom prst="rect">
            <a:avLst/>
          </a:prstGeom>
          <a:noFill/>
          <a:ln/>
        </p:spPr>
        <p:txBody>
          <a:bodyPr wrap="square" rtlCol="0" anchor="ctr"/>
          <a:lstStyle/>
          <a:p>
            <a:pPr algn="ctr" indent="0" marL="0">
              <a:buNone/>
            </a:pPr>
            <a:r>
              <a:rPr lang="en-US" sz="3600" b="1" dirty="0">
                <a:solidFill>
                  <a:srgbClr val="374151"/>
                </a:solidFill>
              </a:rPr>
              <a:t>Thank You</a:t>
            </a:r>
            <a:endParaRPr lang="en-US" sz="3600" dirty="0"/>
          </a:p>
        </p:txBody>
      </p:sp>
      <p:sp>
        <p:nvSpPr>
          <p:cNvPr id="5" name="Text 3"/>
          <p:cNvSpPr/>
          <p:nvPr/>
        </p:nvSpPr>
        <p:spPr>
          <a:xfrm>
            <a:off x="914400" y="2057400"/>
            <a:ext cx="7315200" cy="1828800"/>
          </a:xfrm>
          <a:prstGeom prst="rect">
            <a:avLst/>
          </a:prstGeom>
          <a:noFill/>
          <a:ln/>
        </p:spPr>
        <p:txBody>
          <a:bodyPr wrap="square" rtlCol="0" anchor="ctr"/>
          <a:lstStyle/>
          <a:p>
            <a:pPr algn="ctr" indent="0" marL="0">
              <a:lnSpc>
                <a:spcPts val="2400"/>
              </a:lnSpc>
              <a:buNone/>
            </a:pPr>
            <a:r>
              <a:rPr lang="en-US" sz="1800" dirty="0">
                <a:solidFill>
                  <a:srgbClr val="4B5563"/>
                </a:solidFill>
              </a:rPr>
              <a:t>Questions &amp; Discussion</a:t>
            </a:r>
            <a:endParaRPr lang="en-US" sz="1800" dirty="0"/>
          </a:p>
        </p:txBody>
      </p:sp>
      <p:sp>
        <p:nvSpPr>
          <p:cNvPr id="6" name="Text 4"/>
          <p:cNvSpPr/>
          <p:nvPr/>
        </p:nvSpPr>
        <p:spPr>
          <a:xfrm>
            <a:off x="914400" y="3657600"/>
            <a:ext cx="7315200" cy="457200"/>
          </a:xfrm>
          <a:prstGeom prst="rect">
            <a:avLst/>
          </a:prstGeom>
          <a:noFill/>
          <a:ln/>
        </p:spPr>
        <p:txBody>
          <a:bodyPr wrap="square" rtlCol="0" anchor="ctr"/>
          <a:lstStyle/>
          <a:p>
            <a:pPr algn="ctr" indent="0" marL="0">
              <a:buNone/>
            </a:pPr>
            <a:r>
              <a:rPr lang="en-US" sz="1600" dirty="0">
                <a:solidFill>
                  <a:srgbClr val="111827"/>
                </a:solidFill>
              </a:rPr>
              <a:t>Questions &amp; Discussion Welcome</a:t>
            </a:r>
            <a:endParaRPr lang="en-US" sz="1600" dirty="0"/>
          </a:p>
        </p:txBody>
      </p:sp>
      <p:sp>
        <p:nvSpPr>
          <p:cNvPr id="7" name="Shape 5"/>
          <p:cNvSpPr/>
          <p:nvPr/>
        </p:nvSpPr>
        <p:spPr>
          <a:xfrm>
            <a:off x="0" y="5029200"/>
            <a:ext cx="9144000" cy="137160"/>
          </a:xfrm>
          <a:prstGeom prst="rect">
            <a:avLst/>
          </a:prstGeom>
          <a:solidFill>
            <a:srgbClr val="374151"/>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 – Title Slide
Title: Smart Stock Inventory Optimization – Retail Store
Subtitle: Developed Using Python Programming
Presented by: Girijapavani Rajarapu
Department: CSE
---
Slide 2 – Introduction
Retail stores must maintain proper stock levels
Overstock → Waste and money loss
Out-of-stock → Customer dissatisfaction
This project helps monitor inventory using Python
---
Slide 3 – Project Objective
Analyze daily stock quantities
Identify overstock and out-of-stock situations
Use Python conditions and simple calculations
Work with time-series sales forecasting hugging face dataset
---
Slide 4 – Technologies Used
Python Programming
Pandas (for reading CSV file)
Matplotlib (for graphs)
Data Structures (lists, dictionaries)
Basic file handling
---
Slide 5 – Python Concepts Used
If–Else conditions
Loops
Functions
CSV reading
Simple arithmetic
Basic logic building
---
Slide 6 – Stock Checking Logic
Condition Logic:
if stock &lt;= 5:
    Out of Stock
elif stock &gt;= 20:
    Overstock
else:
    Normal Stock
---
Slide 7 – Workflow
1. Load dataset
2. Fetch stock values
3. Apply condition logic
4. Categorize stock level
5. Plot the graph
6. Display results
---
Slide 8 – Sample Python Code
def check_stock(qty):
    if qty &lt;= 5:
        return "Out of Stock"
    elif qty &gt;= 20:
        return "Overstock"
    else:
        return "Normal Stock"
---
---
Slide 10 – Observations
Daily stock movements are tracked
Logic easily detects critical stock levels
Helps maintain stable inventory
---
Slide 11 – Advantages
Simple and lightweight
Easy to understand
Uses basic Python
Useful for small or medium stores
No complex setup required
---
Slide 12 – Conclusion
Python can effectively monitor stock levels
Helps avoid unnecessary loss
Provides clear insights for inventory management
Can be extended into a full backend application
---
Slide 13 – Thank You</dc:title>
  <dc:subject>PptxGenJS Presentation</dc:subject>
  <dc:creator>AI Presentation Generator V1</dc:creator>
  <cp:lastModifiedBy>AI Presentation Generator V1</cp:lastModifiedBy>
  <cp:revision>1</cp:revision>
  <dcterms:created xsi:type="dcterms:W3CDTF">2025-11-21T10:48:27Z</dcterms:created>
  <dcterms:modified xsi:type="dcterms:W3CDTF">2025-11-21T10:48:27Z</dcterms:modified>
</cp:coreProperties>
</file>